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58" autoAdjust="0"/>
  </p:normalViewPr>
  <p:slideViewPr>
    <p:cSldViewPr snapToGrid="0" snapToObjects="1">
      <p:cViewPr>
        <p:scale>
          <a:sx n="125" d="100"/>
          <a:sy n="125" d="100"/>
        </p:scale>
        <p:origin x="11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hyperlink" Target="https://arxiv.org/abs/2603.2963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96190" y="-526757"/>
            <a:ext cx="9998295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359" y="1704480"/>
            <a:ext cx="1131284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SIH26167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– </a:t>
            </a:r>
            <a:r>
              <a:rPr lang="en-IN" sz="2400" dirty="0" err="1"/>
              <a:t>SatQuery</a:t>
            </a:r>
            <a:r>
              <a:rPr lang="en-IN" sz="2400" dirty="0"/>
              <a:t> AI-</a:t>
            </a:r>
          </a:p>
          <a:p>
            <a:pPr algn="just"/>
            <a:r>
              <a:rPr lang="en-IN" sz="2400" dirty="0"/>
              <a:t>    An Interactive Vision-Language Assistant</a:t>
            </a:r>
          </a:p>
          <a:p>
            <a:pPr algn="just"/>
            <a:r>
              <a:rPr lang="en-IN" sz="2400" dirty="0"/>
              <a:t>    for Multimodal Remote Sensing Image Analysis </a:t>
            </a:r>
          </a:p>
          <a:p>
            <a:pPr algn="just"/>
            <a:r>
              <a:rPr lang="en-IN" sz="2400" dirty="0"/>
              <a:t>    through Text Queries</a:t>
            </a:r>
          </a:p>
          <a:p>
            <a:pPr algn="just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– </a:t>
            </a:r>
            <a:r>
              <a:rPr lang="en-IN" sz="2400" b="1" dirty="0"/>
              <a:t>Space Technology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– </a:t>
            </a:r>
            <a:r>
              <a:rPr lang="en-IN" sz="2400" b="1" dirty="0"/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t>Team ID – [Your SIH Team ID]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r>
              <a:rPr lang="en-IN" sz="2400" b="1" dirty="0"/>
              <a:t>Team </a:t>
            </a:r>
            <a:r>
              <a:rPr lang="en-IN" sz="2400" b="1" dirty="0" err="1"/>
              <a:t>Plotvortex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b="1" sz="1100">
                <a:solidFill>
                  <a:srgbClr val="00F0FF"/>
                </a:solidFill>
              </a:defRPr>
            </a:pPr>
            <a:r>
              <a:t>🌐 Live Prototype: https://satquery-ai.demo | 💻 GitHub: github.com/TeamPlotVortex/SatQuery-AI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9CE0E4-2DC6-4088-D556-9457282A56F3}"/>
              </a:ext>
            </a:extLst>
          </p:cNvPr>
          <p:cNvSpPr txBox="1"/>
          <p:nvPr/>
        </p:nvSpPr>
        <p:spPr>
          <a:xfrm>
            <a:off x="4838576" y="1131218"/>
            <a:ext cx="2411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SatQuery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C08602-9E48-F225-4ABB-419BE9723CD0}"/>
              </a:ext>
            </a:extLst>
          </p:cNvPr>
          <p:cNvCxnSpPr>
            <a:cxnSpLocks/>
          </p:cNvCxnSpPr>
          <p:nvPr/>
        </p:nvCxnSpPr>
        <p:spPr>
          <a:xfrm>
            <a:off x="0" y="1097527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E8D79489-8A7D-8F7A-B31C-1218DA24ED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1614" y="185427"/>
            <a:ext cx="1642987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38080"/>
            <a:ext cx="10972800" cy="965390"/>
          </a:xfrm>
        </p:spPr>
        <p:txBody>
          <a:bodyPr/>
          <a:lstStyle/>
          <a:p>
            <a:pPr eaLnBrk="1" hangingPunct="1"/>
            <a:r>
              <a:rPr lang="en-IN" sz="3600" dirty="0"/>
              <a:t>    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SatQuery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– Agentic Vision-Language Assistant 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Satellite Image Analysis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1575" y="1063837"/>
            <a:ext cx="37270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</a:t>
            </a:r>
            <a:endParaRPr lang="en-US" sz="2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03" y="127322"/>
            <a:ext cx="1921398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BCA94C-340E-516A-5E18-01DE6975DC13}"/>
              </a:ext>
            </a:extLst>
          </p:cNvPr>
          <p:cNvCxnSpPr>
            <a:cxnSpLocks/>
          </p:cNvCxnSpPr>
          <p:nvPr/>
        </p:nvCxnSpPr>
        <p:spPr>
          <a:xfrm flipV="1">
            <a:off x="-1" y="1103417"/>
            <a:ext cx="1219200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A9703DC-6B9F-1BBA-32DE-1BF8215D7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901" y="1148082"/>
            <a:ext cx="5230172" cy="51721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7CD8C7-82C5-0798-D140-D5F12195D5EE}"/>
              </a:ext>
            </a:extLst>
          </p:cNvPr>
          <p:cNvSpPr txBox="1"/>
          <p:nvPr/>
        </p:nvSpPr>
        <p:spPr>
          <a:xfrm>
            <a:off x="75502" y="1445342"/>
            <a:ext cx="88957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• Extracting insights </a:t>
            </a:r>
            <a:r>
              <a:rPr lang="en-IN" dirty="0"/>
              <a:t>(VQA, Change detection, SAR analysis) requires </a:t>
            </a:r>
            <a:r>
              <a:rPr lang="en-IN" b="1" dirty="0"/>
              <a:t>Geographic </a:t>
            </a:r>
          </a:p>
          <a:p>
            <a:r>
              <a:rPr lang="en-IN" b="1" dirty="0"/>
              <a:t>Information System expertise, Specialized software, and hours of Manual processing</a:t>
            </a:r>
            <a:r>
              <a:rPr lang="en-IN" dirty="0"/>
              <a:t>.</a:t>
            </a:r>
          </a:p>
          <a:p>
            <a:r>
              <a:rPr lang="en-IN" b="1" dirty="0">
                <a:solidFill>
                  <a:schemeClr val="tx2"/>
                </a:solidFill>
              </a:rPr>
              <a:t>• Critical users </a:t>
            </a:r>
            <a:r>
              <a:rPr lang="en-IN" dirty="0"/>
              <a:t>— NDRF officers, forest departments, farmers, urban planners — cannot access this data during </a:t>
            </a:r>
            <a:r>
              <a:rPr lang="en-IN" b="1" dirty="0"/>
              <a:t>time-sensitive decisions</a:t>
            </a:r>
            <a:r>
              <a:rPr lang="en-IN" dirty="0"/>
              <a:t>. </a:t>
            </a:r>
          </a:p>
          <a:p>
            <a:r>
              <a:rPr lang="en-IN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</a:rPr>
              <a:t>No existing system </a:t>
            </a:r>
            <a:r>
              <a:rPr lang="en-IN" dirty="0"/>
              <a:t>lets a user simply ASK a question about a </a:t>
            </a:r>
          </a:p>
          <a:p>
            <a:r>
              <a:rPr lang="en-IN" b="1" dirty="0"/>
              <a:t>satellite</a:t>
            </a:r>
            <a:r>
              <a:rPr lang="en-IN" dirty="0"/>
              <a:t> </a:t>
            </a:r>
            <a:r>
              <a:rPr lang="en-IN" b="1" dirty="0"/>
              <a:t>image and get a grounded, visual answer instantly.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0C4427A5-5F74-72FE-4C49-E384F0FD2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5" y="3150436"/>
            <a:ext cx="37270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</a:t>
            </a:r>
            <a:endParaRPr lang="en-US" sz="2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FF51D5-AF1F-32FB-07CB-170C229798E8}"/>
              </a:ext>
            </a:extLst>
          </p:cNvPr>
          <p:cNvSpPr txBox="1"/>
          <p:nvPr/>
        </p:nvSpPr>
        <p:spPr>
          <a:xfrm>
            <a:off x="75502" y="3525590"/>
            <a:ext cx="8154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Agentic Vision-Language Platform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/>
              <a:t>— evidence-backed answers, </a:t>
            </a:r>
          </a:p>
          <a:p>
            <a:r>
              <a:rPr lang="en-IN" dirty="0"/>
              <a:t>with </a:t>
            </a:r>
            <a:r>
              <a:rPr lang="en-IN" b="1" dirty="0"/>
              <a:t>zero GIS expertise required </a:t>
            </a:r>
            <a:r>
              <a:rPr lang="en-IN" dirty="0"/>
              <a:t>for </a:t>
            </a:r>
            <a:r>
              <a:rPr lang="en-IN" b="1" dirty="0"/>
              <a:t>any user query</a:t>
            </a:r>
            <a:r>
              <a:rPr lang="en-IN" dirty="0"/>
              <a:t>.</a:t>
            </a:r>
          </a:p>
          <a:p>
            <a:r>
              <a:rPr lang="en-IN" dirty="0">
                <a:solidFill>
                  <a:schemeClr val="tx2"/>
                </a:solidFill>
              </a:rPr>
              <a:t>•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Multi-Task Remote Sensing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/>
              <a:t>— Unifies </a:t>
            </a:r>
            <a:r>
              <a:rPr lang="en-IN" b="1" dirty="0"/>
              <a:t>Scene Captioning, Visual Grounding, </a:t>
            </a:r>
          </a:p>
          <a:p>
            <a:r>
              <a:rPr lang="en-IN" b="1" dirty="0"/>
              <a:t>Bi-Temporal Change Detection, SAR–Optical Fusion, Visual Question Answering. </a:t>
            </a:r>
          </a:p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Agentic Controller</a:t>
            </a:r>
            <a:r>
              <a:rPr lang="en-IN" b="1" dirty="0"/>
              <a:t> </a:t>
            </a:r>
            <a:r>
              <a:rPr lang="en-IN" dirty="0"/>
              <a:t>— Classifies query intent, selecting correct </a:t>
            </a:r>
            <a:r>
              <a:rPr lang="en-IN" b="1" dirty="0"/>
              <a:t>specialist model</a:t>
            </a:r>
            <a:r>
              <a:rPr lang="en-IN" dirty="0"/>
              <a:t>,     execution, returns a </a:t>
            </a:r>
            <a:r>
              <a:rPr lang="en-IN" b="1" dirty="0"/>
              <a:t>fully auditable execution trace</a:t>
            </a:r>
            <a:r>
              <a:rPr lang="en-IN" dirty="0"/>
              <a:t> — nothing </a:t>
            </a:r>
            <a:r>
              <a:rPr lang="en-IN" b="1" dirty="0"/>
              <a:t>unvalidated.</a:t>
            </a:r>
          </a:p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Evidence-Grounded Confidence Engine</a:t>
            </a:r>
            <a:r>
              <a:rPr lang="en-IN" dirty="0"/>
              <a:t> — Multi-factor </a:t>
            </a:r>
            <a:r>
              <a:rPr lang="en-IN" b="1" dirty="0"/>
              <a:t>confidence scoring </a:t>
            </a:r>
            <a:r>
              <a:rPr lang="en-IN" dirty="0"/>
              <a:t>instead of a hallucinated LLM guess.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Deployment-Ready System</a:t>
            </a:r>
            <a:r>
              <a:rPr lang="en-IN" dirty="0"/>
              <a:t> — </a:t>
            </a:r>
            <a:r>
              <a:rPr lang="en-IN" dirty="0" err="1"/>
              <a:t>GeoTIFF</a:t>
            </a:r>
            <a:r>
              <a:rPr lang="en-IN" dirty="0"/>
              <a:t>-native ingestion, interactive map interface,         downloadable reports, containerized with Docker —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 ISRO operational use</a:t>
            </a:r>
            <a:r>
              <a:rPr lang="en-IN" b="1" dirty="0"/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2B82D63-BA2A-1FE9-EA93-ACECC7B6C554}"/>
              </a:ext>
            </a:extLst>
          </p:cNvPr>
          <p:cNvCxnSpPr>
            <a:cxnSpLocks/>
          </p:cNvCxnSpPr>
          <p:nvPr/>
        </p:nvCxnSpPr>
        <p:spPr>
          <a:xfrm>
            <a:off x="-1" y="3199668"/>
            <a:ext cx="68863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923D5D-1203-AE0A-03DF-022A2C6DAC82}"/>
              </a:ext>
            </a:extLst>
          </p:cNvPr>
          <p:cNvCxnSpPr>
            <a:cxnSpLocks/>
          </p:cNvCxnSpPr>
          <p:nvPr/>
        </p:nvCxnSpPr>
        <p:spPr>
          <a:xfrm>
            <a:off x="1" y="1099705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 descr="Your startup LOGO">
            <a:extLst>
              <a:ext uri="{FF2B5EF4-FFF2-40B4-BE49-F238E27FC236}">
                <a16:creationId xmlns:a16="http://schemas.microsoft.com/office/drawing/2014/main" id="{9A1B4B38-4A48-3BFD-4947-609686514E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03" y="127322"/>
            <a:ext cx="1921398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24BE7A-2F2D-5263-D256-DFE16A8FA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387" y="1144501"/>
            <a:ext cx="8111613" cy="51712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15D4B6E-6320-C9BC-4F40-3062C56277F2}"/>
              </a:ext>
            </a:extLst>
          </p:cNvPr>
          <p:cNvSpPr txBox="1"/>
          <p:nvPr/>
        </p:nvSpPr>
        <p:spPr>
          <a:xfrm>
            <a:off x="-60572" y="1059580"/>
            <a:ext cx="3110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</a:t>
            </a: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-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F25C1D-C572-EA75-6043-6C7E761B360A}"/>
              </a:ext>
            </a:extLst>
          </p:cNvPr>
          <p:cNvSpPr txBox="1"/>
          <p:nvPr/>
        </p:nvSpPr>
        <p:spPr>
          <a:xfrm>
            <a:off x="0" y="1328222"/>
            <a:ext cx="4299852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</a:t>
            </a:r>
            <a:r>
              <a:rPr lang="en-IN" b="1" dirty="0"/>
              <a:t>- </a:t>
            </a:r>
            <a:r>
              <a:rPr lang="en-IN" dirty="0"/>
              <a:t>React.js, Leaflet.js, Flutter, Tailwind CSS, Axios, React Query, Chart.js</a:t>
            </a:r>
          </a:p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Backend &amp; API </a:t>
            </a:r>
            <a:r>
              <a:rPr lang="en-IN" b="1" dirty="0"/>
              <a:t>- </a:t>
            </a:r>
            <a:r>
              <a:rPr lang="en-IN" dirty="0" err="1"/>
              <a:t>FastAPI</a:t>
            </a:r>
            <a:r>
              <a:rPr lang="en-IN" dirty="0"/>
              <a:t>, Redis, Celery, </a:t>
            </a:r>
            <a:r>
              <a:rPr lang="en-IN" dirty="0" err="1"/>
              <a:t>Uvicorn</a:t>
            </a:r>
            <a:r>
              <a:rPr lang="en-IN" dirty="0"/>
              <a:t>, </a:t>
            </a:r>
            <a:r>
              <a:rPr lang="en-IN" dirty="0" err="1"/>
              <a:t>Pydantic</a:t>
            </a:r>
            <a:r>
              <a:rPr lang="en-IN" dirty="0"/>
              <a:t>, REST &amp; WebSocket API</a:t>
            </a:r>
            <a:br>
              <a:rPr lang="en-IN" dirty="0"/>
            </a:b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Controller - </a:t>
            </a:r>
            <a:r>
              <a:rPr lang="en-IN" dirty="0" err="1"/>
              <a:t>LangChain</a:t>
            </a:r>
            <a:r>
              <a:rPr lang="en-IN" dirty="0"/>
              <a:t>, </a:t>
            </a:r>
            <a:r>
              <a:rPr lang="en-IN" dirty="0" err="1"/>
              <a:t>Langgraph</a:t>
            </a:r>
            <a:r>
              <a:rPr lang="en-IN" dirty="0"/>
              <a:t>, </a:t>
            </a:r>
            <a:r>
              <a:rPr lang="en-IN" dirty="0" err="1"/>
              <a:t>StateGraph</a:t>
            </a:r>
            <a:r>
              <a:rPr lang="en-IN" dirty="0"/>
              <a:t>, Policy Validator, Tool Registry, </a:t>
            </a:r>
            <a:r>
              <a:rPr lang="en-IN" dirty="0" err="1"/>
              <a:t>asyncio</a:t>
            </a:r>
            <a:br>
              <a:rPr lang="en-IN" dirty="0"/>
            </a:b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AI Models - </a:t>
            </a:r>
            <a:r>
              <a:rPr lang="en-IN" dirty="0" err="1"/>
              <a:t>GeoChat</a:t>
            </a:r>
            <a:r>
              <a:rPr lang="en-IN" dirty="0"/>
              <a:t>, </a:t>
            </a:r>
            <a:r>
              <a:rPr lang="en-IN" dirty="0" err="1"/>
              <a:t>ChangeFormer</a:t>
            </a:r>
            <a:r>
              <a:rPr lang="en-IN" dirty="0"/>
              <a:t>, RSVG-</a:t>
            </a:r>
            <a:r>
              <a:rPr lang="en-IN" dirty="0" err="1"/>
              <a:t>pytorch</a:t>
            </a:r>
            <a:r>
              <a:rPr lang="en-IN" dirty="0"/>
              <a:t>, </a:t>
            </a:r>
            <a:r>
              <a:rPr lang="en-IN" dirty="0" err="1"/>
              <a:t>RemoteCLIP</a:t>
            </a:r>
            <a:r>
              <a:rPr lang="en-IN" dirty="0"/>
              <a:t>, ResNet-50, </a:t>
            </a:r>
          </a:p>
          <a:p>
            <a:r>
              <a:rPr lang="en-IN" dirty="0" err="1"/>
              <a:t>ViT</a:t>
            </a:r>
            <a:r>
              <a:rPr lang="en-IN" dirty="0"/>
              <a:t>, PEFT, </a:t>
            </a:r>
            <a:r>
              <a:rPr lang="en-IN" dirty="0" err="1"/>
              <a:t>LoRA</a:t>
            </a:r>
            <a:r>
              <a:rPr lang="en-IN" dirty="0"/>
              <a:t>, </a:t>
            </a:r>
            <a:r>
              <a:rPr lang="en-IN" dirty="0" err="1"/>
              <a:t>HuggingFace</a:t>
            </a:r>
            <a:r>
              <a:rPr lang="en-IN" dirty="0"/>
              <a:t> Transformers, accelerate, </a:t>
            </a:r>
            <a:r>
              <a:rPr lang="en-IN" dirty="0" err="1"/>
              <a:t>timm</a:t>
            </a:r>
            <a:r>
              <a:rPr lang="en-IN" dirty="0"/>
              <a:t>, </a:t>
            </a:r>
            <a:r>
              <a:rPr lang="en-IN" dirty="0" err="1"/>
              <a:t>einops</a:t>
            </a:r>
            <a:br>
              <a:rPr lang="en-IN" dirty="0"/>
            </a:b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Satellite Data - </a:t>
            </a:r>
            <a:r>
              <a:rPr lang="en-IN" dirty="0" err="1"/>
              <a:t>rasterio</a:t>
            </a:r>
            <a:r>
              <a:rPr lang="en-IN" dirty="0"/>
              <a:t> , GDAL, </a:t>
            </a:r>
            <a:r>
              <a:rPr lang="en-IN" dirty="0" err="1"/>
              <a:t>pyproj</a:t>
            </a:r>
            <a:r>
              <a:rPr lang="en-IN" dirty="0"/>
              <a:t>, NumPy, OpenCV, </a:t>
            </a:r>
            <a:r>
              <a:rPr lang="en-IN" dirty="0" err="1"/>
              <a:t>sentinelsat</a:t>
            </a:r>
            <a:r>
              <a:rPr lang="en-IN" dirty="0"/>
              <a:t>, </a:t>
            </a:r>
            <a:r>
              <a:rPr lang="en-IN" dirty="0" err="1"/>
              <a:t>scipy</a:t>
            </a:r>
            <a:r>
              <a:rPr lang="en-IN" dirty="0"/>
              <a:t>, Pillow</a:t>
            </a:r>
            <a:br>
              <a:rPr lang="en-IN" dirty="0"/>
            </a:b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Training Datasets -</a:t>
            </a:r>
            <a:r>
              <a:rPr lang="en-IN" dirty="0" err="1"/>
              <a:t>VRSBench</a:t>
            </a:r>
            <a:r>
              <a:rPr lang="en-IN" dirty="0"/>
              <a:t>, RSVQA-LR, RSVQA-HR, CDVQA, LEVIR-CD, WHU-CD</a:t>
            </a:r>
            <a:br>
              <a:rPr lang="en-IN" dirty="0"/>
            </a:b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Deployment -</a:t>
            </a:r>
            <a:r>
              <a:rPr lang="en-IN" dirty="0"/>
              <a:t>Docker, GCP, Nginx, GitHub, Actions, </a:t>
            </a:r>
            <a:r>
              <a:rPr lang="en-IN" dirty="0" err="1"/>
              <a:t>wandb</a:t>
            </a:r>
            <a:r>
              <a:rPr lang="en-IN" dirty="0"/>
              <a:t>, evaluate, </a:t>
            </a:r>
            <a:r>
              <a:rPr lang="en-IN" dirty="0" err="1"/>
              <a:t>pycocoevalcap</a:t>
            </a:r>
            <a:r>
              <a:rPr lang="en-IN" dirty="0"/>
              <a:t>, scikit-learn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8FE326F-ACC7-5C7B-A50A-8B8F6BD540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03" y="127322"/>
            <a:ext cx="1921398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2A066D-D8C6-E9BE-86C8-8714BFFAD9D0}"/>
              </a:ext>
            </a:extLst>
          </p:cNvPr>
          <p:cNvCxnSpPr>
            <a:cxnSpLocks/>
          </p:cNvCxnSpPr>
          <p:nvPr/>
        </p:nvCxnSpPr>
        <p:spPr>
          <a:xfrm>
            <a:off x="0" y="10953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B57DCC-47EF-7A4D-1FD9-B701CAE04CA5}"/>
              </a:ext>
            </a:extLst>
          </p:cNvPr>
          <p:cNvSpPr txBox="1"/>
          <p:nvPr/>
        </p:nvSpPr>
        <p:spPr>
          <a:xfrm>
            <a:off x="-1" y="1059367"/>
            <a:ext cx="619067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(Technical)</a:t>
            </a:r>
          </a:p>
          <a:p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base models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</a:t>
            </a:r>
            <a:r>
              <a:rPr lang="en-IN" b="1" dirty="0" err="1">
                <a:latin typeface="+mj-lt"/>
                <a:cs typeface="Times New Roman" panose="02020603050405020304" pitchFamily="18" charset="0"/>
              </a:rPr>
              <a:t>GeoChat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IN" b="1" dirty="0" err="1">
                <a:latin typeface="+mj-lt"/>
                <a:cs typeface="Times New Roman" panose="02020603050405020304" pitchFamily="18" charset="0"/>
              </a:rPr>
              <a:t>ChangeFormer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, </a:t>
            </a:r>
          </a:p>
          <a:p>
            <a:r>
              <a:rPr lang="en-IN" b="1" dirty="0">
                <a:latin typeface="+mj-lt"/>
                <a:cs typeface="Times New Roman" panose="02020603050405020304" pitchFamily="18" charset="0"/>
              </a:rPr>
              <a:t>RSVG</a:t>
            </a:r>
            <a:r>
              <a:rPr lang="en-IN" dirty="0">
                <a:latin typeface="+mj-lt"/>
              </a:rPr>
              <a:t> </a:t>
            </a:r>
            <a:r>
              <a:rPr lang="en-IN" dirty="0"/>
              <a:t>already exist.</a:t>
            </a:r>
          </a:p>
          <a:p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fine-tuning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/>
              <a:t>–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7B model trained</a:t>
            </a:r>
            <a:r>
              <a:rPr lang="en-IN" b="1" dirty="0">
                <a:latin typeface="+mj-lt"/>
              </a:rPr>
              <a:t> </a:t>
            </a:r>
            <a:r>
              <a:rPr lang="en-IN" dirty="0"/>
              <a:t>on single GPU, not clusters.</a:t>
            </a:r>
          </a:p>
          <a:p>
            <a:pPr lvl="0"/>
            <a:r>
              <a:t>• BigEarthNet dataset – BigEarthNet.txt (464,044 Sentinel-1/2 pairs, 9.6M text annotations, arXiv:2603.29630).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VQA, Change Detection, </a:t>
            </a:r>
          </a:p>
          <a:p>
            <a:pPr lvl="0"/>
            <a:r>
              <a:rPr lang="en-IN" b="1" dirty="0">
                <a:latin typeface="+mj-lt"/>
                <a:cs typeface="Times New Roman" panose="02020603050405020304" pitchFamily="18" charset="0"/>
              </a:rPr>
              <a:t>SAR-Fusion built independently.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satellite data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ESA, ISRO Bhuvan, NASA</a:t>
            </a:r>
            <a:r>
              <a:rPr lang="en-IN" dirty="0"/>
              <a:t> all</a:t>
            </a:r>
          </a:p>
          <a:p>
            <a:pPr lvl="0"/>
            <a:r>
              <a:rPr lang="en-IN" dirty="0"/>
              <a:t> no-cost sources.</a:t>
            </a:r>
            <a:endParaRPr lang="en-I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2000" dirty="0"/>
            </a:br>
            <a:endParaRPr lang="en-I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30C4A-05AA-2395-EE9B-BA2B9218FBC8}"/>
              </a:ext>
            </a:extLst>
          </p:cNvPr>
          <p:cNvSpPr txBox="1"/>
          <p:nvPr/>
        </p:nvSpPr>
        <p:spPr>
          <a:xfrm>
            <a:off x="5933936" y="1059367"/>
            <a:ext cx="6096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2"/>
                </a:solidFill>
              </a:rPr>
              <a:t> </a:t>
            </a: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 complexity</a:t>
            </a:r>
            <a:r>
              <a:rPr lang="en-IN" dirty="0"/>
              <a:t> </a:t>
            </a:r>
            <a:r>
              <a:rPr lang="en-IN" b="1" dirty="0"/>
              <a:t>– Radar noise </a:t>
            </a:r>
            <a:r>
              <a:rPr lang="en-IN" dirty="0"/>
              <a:t>differs from optical images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limits</a:t>
            </a:r>
            <a:r>
              <a:rPr lang="en-IN" dirty="0"/>
              <a:t> – </a:t>
            </a:r>
            <a:r>
              <a:rPr lang="en-IN" b="1" dirty="0"/>
              <a:t>Multi-dataset fine-tuning </a:t>
            </a:r>
            <a:r>
              <a:rPr lang="en-IN" dirty="0"/>
              <a:t>is GPU-heavy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 test data</a:t>
            </a:r>
            <a:r>
              <a:rPr lang="en-IN" dirty="0"/>
              <a:t> – ISRO's hidden </a:t>
            </a:r>
            <a:r>
              <a:rPr lang="en-IN" dirty="0" err="1"/>
              <a:t>Cartosat</a:t>
            </a:r>
            <a:r>
              <a:rPr lang="en-IN" dirty="0"/>
              <a:t>/RISAT set </a:t>
            </a:r>
            <a:r>
              <a:rPr lang="en-IN" b="1" dirty="0"/>
              <a:t>untestable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hallucination</a:t>
            </a:r>
            <a:r>
              <a:rPr lang="en-IN" dirty="0"/>
              <a:t> – LLM </a:t>
            </a:r>
            <a:r>
              <a:rPr lang="en-IN" b="1" dirty="0"/>
              <a:t>may fabricate numeric answers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Fragile setup</a:t>
            </a:r>
            <a:r>
              <a:rPr lang="en-IN" dirty="0"/>
              <a:t> </a:t>
            </a:r>
            <a:r>
              <a:rPr lang="en-IN" b="1" dirty="0"/>
              <a:t>– GDAL/</a:t>
            </a:r>
            <a:r>
              <a:rPr lang="en-IN" b="1" dirty="0" err="1"/>
              <a:t>rasterio</a:t>
            </a:r>
            <a:r>
              <a:rPr lang="en-IN" b="1" dirty="0"/>
              <a:t> </a:t>
            </a:r>
            <a:r>
              <a:rPr lang="en-IN" dirty="0"/>
              <a:t>break easily if installed wrong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931567-F62B-EECB-3780-3F2671D0A048}"/>
              </a:ext>
            </a:extLst>
          </p:cNvPr>
          <p:cNvSpPr txBox="1"/>
          <p:nvPr/>
        </p:nvSpPr>
        <p:spPr>
          <a:xfrm>
            <a:off x="5937507" y="3235897"/>
            <a:ext cx="65628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endParaRPr lang="en-IN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Locked agent design</a:t>
            </a:r>
            <a:r>
              <a:rPr lang="en-IN" dirty="0"/>
              <a:t> – LLM only classifies</a:t>
            </a:r>
            <a:r>
              <a:rPr lang="en-IN" b="1" dirty="0"/>
              <a:t>; models compute </a:t>
            </a:r>
          </a:p>
          <a:p>
            <a:pPr lvl="0"/>
            <a:r>
              <a:rPr lang="en-IN" b="1" dirty="0"/>
              <a:t>real numbers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Sensor-agnostic pipeline</a:t>
            </a:r>
            <a:r>
              <a:rPr lang="en-IN" dirty="0"/>
              <a:t> – </a:t>
            </a:r>
            <a:r>
              <a:rPr lang="en-IN" b="1" dirty="0"/>
              <a:t>Normalizes data </a:t>
            </a:r>
            <a:r>
              <a:rPr lang="en-IN" dirty="0"/>
              <a:t>for unseen satellite types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Pre-built before hackathon</a:t>
            </a:r>
            <a:r>
              <a:rPr lang="en-IN" dirty="0"/>
              <a:t> – 36 hrs used only for </a:t>
            </a:r>
            <a:r>
              <a:rPr lang="en-IN" b="1" dirty="0"/>
              <a:t>integration + polish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benchmark dashboard</a:t>
            </a:r>
            <a:r>
              <a:rPr lang="en-IN" dirty="0"/>
              <a:t> – </a:t>
            </a:r>
            <a:r>
              <a:rPr lang="en-IN" b="1" dirty="0"/>
              <a:t>Real </a:t>
            </a:r>
            <a:r>
              <a:rPr lang="en-IN" b="1" dirty="0" err="1"/>
              <a:t>VRSBench</a:t>
            </a:r>
            <a:r>
              <a:rPr lang="en-IN" b="1" dirty="0"/>
              <a:t>/RSVQA/CDVQA </a:t>
            </a:r>
          </a:p>
          <a:p>
            <a:pPr lvl="0"/>
            <a:r>
              <a:rPr lang="en-IN" b="1" dirty="0"/>
              <a:t>scores shown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Conda-first install rule</a:t>
            </a:r>
            <a:r>
              <a:rPr lang="en-IN" dirty="0"/>
              <a:t> – </a:t>
            </a:r>
            <a:r>
              <a:rPr lang="en-IN" b="1" dirty="0"/>
              <a:t>GDAL via </a:t>
            </a:r>
            <a:r>
              <a:rPr lang="en-IN" b="1" dirty="0" err="1"/>
              <a:t>conda</a:t>
            </a:r>
            <a:r>
              <a:rPr lang="en-IN" dirty="0"/>
              <a:t>, prevents </a:t>
            </a:r>
          </a:p>
          <a:p>
            <a:pPr lvl="0"/>
            <a:r>
              <a:rPr lang="en-IN" dirty="0"/>
              <a:t>environment crashes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19950F-D6BD-9F24-EAA6-639428EFE546}"/>
              </a:ext>
            </a:extLst>
          </p:cNvPr>
          <p:cNvSpPr txBox="1"/>
          <p:nvPr/>
        </p:nvSpPr>
        <p:spPr>
          <a:xfrm>
            <a:off x="18579" y="4123898"/>
            <a:ext cx="611517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ISRO alignment</a:t>
            </a:r>
            <a:r>
              <a:rPr lang="en-IN" dirty="0"/>
              <a:t> – Solves their </a:t>
            </a:r>
            <a:r>
              <a:rPr lang="en-IN" b="1" dirty="0"/>
              <a:t>exact stated problem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50+ Indian satellites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Massive </a:t>
            </a:r>
            <a:r>
              <a:rPr lang="en-IN" b="1" dirty="0"/>
              <a:t>unused data pool </a:t>
            </a:r>
            <a:r>
              <a:rPr lang="en-IN" dirty="0"/>
              <a:t>to unlock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licensing cost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1</a:t>
            </a:r>
            <a:r>
              <a:rPr lang="en-IN" b="1" dirty="0"/>
              <a:t>00% open-source stack, </a:t>
            </a:r>
            <a:r>
              <a:rPr lang="en-IN" dirty="0"/>
              <a:t>no paid APIs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Phased scalability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/>
              <a:t>– NDRF → Agriculture → Full ISRO deployment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Realistic benchmarks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</a:t>
            </a:r>
            <a:r>
              <a:rPr lang="en-IN" b="1" dirty="0"/>
              <a:t>65-70% accuracy target</a:t>
            </a:r>
            <a:r>
              <a:rPr lang="en-IN" dirty="0"/>
              <a:t>, proven achievable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357398-CDDA-F747-3316-426ED8B7F8AB}"/>
              </a:ext>
            </a:extLst>
          </p:cNvPr>
          <p:cNvCxnSpPr>
            <a:cxnSpLocks/>
          </p:cNvCxnSpPr>
          <p:nvPr/>
        </p:nvCxnSpPr>
        <p:spPr>
          <a:xfrm>
            <a:off x="5902036" y="1095375"/>
            <a:ext cx="0" cy="5260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7EABB6-303D-C073-AA55-AFBCDE99BD48}"/>
              </a:ext>
            </a:extLst>
          </p:cNvPr>
          <p:cNvCxnSpPr/>
          <p:nvPr/>
        </p:nvCxnSpPr>
        <p:spPr>
          <a:xfrm>
            <a:off x="5902036" y="3235897"/>
            <a:ext cx="62899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41B489-1188-D354-E007-61D6524B6F8D}"/>
              </a:ext>
            </a:extLst>
          </p:cNvPr>
          <p:cNvCxnSpPr>
            <a:cxnSpLocks/>
          </p:cNvCxnSpPr>
          <p:nvPr/>
        </p:nvCxnSpPr>
        <p:spPr>
          <a:xfrm>
            <a:off x="-1" y="4140801"/>
            <a:ext cx="59525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8680179-6BCD-B45C-277D-C4A0618019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03" y="127322"/>
            <a:ext cx="1921398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7CE465-5561-0474-9124-23616BD029AA}"/>
              </a:ext>
            </a:extLst>
          </p:cNvPr>
          <p:cNvCxnSpPr>
            <a:cxnSpLocks/>
          </p:cNvCxnSpPr>
          <p:nvPr/>
        </p:nvCxnSpPr>
        <p:spPr>
          <a:xfrm>
            <a:off x="0" y="10953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793A5CC-C63E-646F-0D4C-022631528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217" y="1317190"/>
            <a:ext cx="8330772" cy="4686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0B8A9F-B16D-59ED-49F6-ABCA864DBE21}"/>
              </a:ext>
            </a:extLst>
          </p:cNvPr>
          <p:cNvSpPr txBox="1"/>
          <p:nvPr/>
        </p:nvSpPr>
        <p:spPr>
          <a:xfrm>
            <a:off x="38100" y="1163444"/>
            <a:ext cx="568729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❖ Strategic Impact-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dirty="0"/>
              <a:t>Offers a </a:t>
            </a:r>
            <a:r>
              <a:rPr lang="en-IN" b="1" dirty="0"/>
              <a:t>fully auditable, evidence-grounded AI system</a:t>
            </a:r>
            <a:r>
              <a:rPr lang="en-IN" dirty="0"/>
              <a:t> — every answer traceable, nothing hallucinated.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dirty="0"/>
              <a:t>Strengthens India's autonomy in </a:t>
            </a:r>
            <a:r>
              <a:rPr lang="en-IN" b="1" dirty="0"/>
              <a:t>disaster management, precision agriculture, forest governance, and urban oversight</a:t>
            </a:r>
            <a:r>
              <a:rPr lang="en-IN" dirty="0"/>
              <a:t> — all from one platform.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br>
              <a:rPr lang="en-IN" dirty="0"/>
            </a:b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91DE2-47D3-4DAF-4A6B-E737C98328D1}"/>
              </a:ext>
            </a:extLst>
          </p:cNvPr>
          <p:cNvSpPr txBox="1"/>
          <p:nvPr/>
        </p:nvSpPr>
        <p:spPr>
          <a:xfrm>
            <a:off x="31173" y="2921676"/>
            <a:ext cx="37580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dirty="0"/>
              <a:t>Directly</a:t>
            </a:r>
            <a:r>
              <a:rPr lang="en-IN" b="1" dirty="0"/>
              <a:t> advances</a:t>
            </a:r>
            <a:r>
              <a:rPr lang="en-IN" dirty="0"/>
              <a:t> </a:t>
            </a:r>
            <a:r>
              <a:rPr lang="en-IN" b="1" i="1" dirty="0"/>
              <a:t>Atmanirbhar Bharat</a:t>
            </a:r>
            <a:r>
              <a:rPr lang="en-IN" b="1" dirty="0"/>
              <a:t> in space-tech </a:t>
            </a:r>
            <a:r>
              <a:rPr lang="en-IN" dirty="0"/>
              <a:t>by building </a:t>
            </a:r>
            <a:r>
              <a:rPr lang="en-IN" b="1" dirty="0"/>
              <a:t>India's</a:t>
            </a:r>
            <a:r>
              <a:rPr lang="en-IN" dirty="0"/>
              <a:t> </a:t>
            </a:r>
            <a:r>
              <a:rPr lang="en-IN" b="1" dirty="0"/>
              <a:t>first indigenous agentic satellite-AI system</a:t>
            </a:r>
            <a:r>
              <a:rPr lang="en-IN" dirty="0"/>
              <a:t> deployable at national scale.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820AC5-F68C-CA7C-0989-96D65CA6856E}"/>
              </a:ext>
            </a:extLst>
          </p:cNvPr>
          <p:cNvSpPr txBox="1"/>
          <p:nvPr/>
        </p:nvSpPr>
        <p:spPr>
          <a:xfrm>
            <a:off x="31173" y="4354494"/>
            <a:ext cx="5768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>
                <a:solidFill>
                  <a:schemeClr val="tx2"/>
                </a:solidFill>
              </a:rPr>
              <a:t>•</a:t>
            </a:r>
            <a:r>
              <a:rPr lang="en-IN" b="1" dirty="0"/>
              <a:t> </a:t>
            </a:r>
            <a:r>
              <a:rPr lang="en-IN" dirty="0"/>
              <a:t>Converts </a:t>
            </a:r>
            <a:r>
              <a:rPr lang="en-IN" b="1" dirty="0"/>
              <a:t>50+ ISRO satellites'</a:t>
            </a:r>
            <a:r>
              <a:rPr lang="en-IN" dirty="0"/>
              <a:t> currently wasted data into </a:t>
            </a:r>
            <a:r>
              <a:rPr lang="en-IN" b="1" dirty="0"/>
              <a:t>actionable, real-time intelligence</a:t>
            </a:r>
            <a:r>
              <a:rPr lang="en-IN" dirty="0"/>
              <a:t> for every government department and citizen.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51E699-C58A-173B-A305-75577CF4B027}"/>
              </a:ext>
            </a:extLst>
          </p:cNvPr>
          <p:cNvSpPr txBox="1"/>
          <p:nvPr/>
        </p:nvSpPr>
        <p:spPr>
          <a:xfrm>
            <a:off x="34638" y="5311635"/>
            <a:ext cx="61462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1" dirty="0">
                <a:solidFill>
                  <a:schemeClr val="tx2"/>
                </a:solidFill>
                <a:effectLst/>
                <a:latin typeface="Calibri" pitchFamily="34" charset="0"/>
              </a:rPr>
              <a:t>"One question. Any </a:t>
            </a:r>
            <a:r>
              <a:rPr lang="en-IN" sz="2000" b="1" i="1" dirty="0">
                <a:solidFill>
                  <a:schemeClr val="tx2"/>
                </a:solidFill>
                <a:effectLst/>
                <a:latin typeface="Calibri" pitchFamily="34" charset="0"/>
              </a:rPr>
              <a:t>satellite</a:t>
            </a:r>
            <a:r>
              <a:rPr lang="en-IN" sz="1800" b="1" i="1" dirty="0">
                <a:solidFill>
                  <a:schemeClr val="tx2"/>
                </a:solidFill>
                <a:effectLst/>
                <a:latin typeface="Calibri" pitchFamily="34" charset="0"/>
              </a:rPr>
              <a:t> image. </a:t>
            </a:r>
            <a:r>
              <a:rPr lang="en-IN" b="1" i="1" dirty="0">
                <a:solidFill>
                  <a:schemeClr val="tx2"/>
                </a:solidFill>
              </a:rPr>
              <a:t>Multi-</a:t>
            </a:r>
            <a:r>
              <a:rPr lang="en-IN" sz="1800" b="1" i="1" dirty="0">
                <a:solidFill>
                  <a:schemeClr val="tx2"/>
                </a:solidFill>
                <a:effectLst/>
                <a:latin typeface="Calibri" pitchFamily="34" charset="0"/>
              </a:rPr>
              <a:t>sectors transformed — </a:t>
            </a:r>
            <a:r>
              <a:rPr lang="en-IN" sz="1800" b="1" i="1" dirty="0" err="1">
                <a:solidFill>
                  <a:schemeClr val="tx2"/>
                </a:solidFill>
                <a:effectLst/>
                <a:latin typeface="Calibri" pitchFamily="34" charset="0"/>
              </a:rPr>
              <a:t>SatQuery</a:t>
            </a:r>
            <a:r>
              <a:rPr lang="en-IN" sz="1800" b="1" i="1" dirty="0">
                <a:solidFill>
                  <a:schemeClr val="tx2"/>
                </a:solidFill>
                <a:effectLst/>
                <a:latin typeface="Calibri" pitchFamily="34" charset="0"/>
              </a:rPr>
              <a:t> AI makes every pixel count for India."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0151196-5BF0-C029-00C2-43D6E54255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03" y="127322"/>
            <a:ext cx="1921398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EBABD0-107E-2FAB-F072-ECAD9D628F2C}"/>
              </a:ext>
            </a:extLst>
          </p:cNvPr>
          <p:cNvCxnSpPr>
            <a:cxnSpLocks/>
          </p:cNvCxnSpPr>
          <p:nvPr/>
        </p:nvCxnSpPr>
        <p:spPr>
          <a:xfrm flipH="1">
            <a:off x="0" y="1095375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BC4F112D-CE16-4083-CCEF-9E24F9632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163" y="1144500"/>
            <a:ext cx="7349835" cy="519630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2598C85-EDF7-65FF-134F-BB69088DEF83}"/>
              </a:ext>
            </a:extLst>
          </p:cNvPr>
          <p:cNvSpPr txBox="1"/>
          <p:nvPr/>
        </p:nvSpPr>
        <p:spPr>
          <a:xfrm>
            <a:off x="0" y="1109328"/>
            <a:ext cx="4842164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l">
              <a:buFont typeface="Wingdings" panose="05000000000000000000" pitchFamily="2" charset="2"/>
              <a:buChar char="v"/>
            </a:pPr>
            <a:r>
              <a:rPr lang="en-IN" sz="20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Papers: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sz="1800" b="1" i="0" dirty="0" err="1">
                <a:solidFill>
                  <a:schemeClr val="tx1"/>
                </a:solidFill>
                <a:effectLst/>
                <a:latin typeface="Calibri" pitchFamily="34" charset="0"/>
              </a:rPr>
              <a:t>GeoChat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 — Grounded Large Vision-Language Model for Remote Sensing: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https://arxiv.org/abs/2311.15826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BigEarthNet-v2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 — A Large-Scale Benchmark for RS Image Understanding: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  <a:hlinkClick r:id="rId5"/>
              </a:rPr>
              <a:t>https://arxiv.org/abs/2603.29630</a:t>
            </a:r>
            <a:endParaRPr lang="en-IN" sz="1800" b="0" i="0" dirty="0">
              <a:solidFill>
                <a:schemeClr val="tx1"/>
              </a:solidFill>
              <a:effectLst/>
              <a:latin typeface="Calibri" pitchFamily="34" charset="0"/>
            </a:endParaRP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RSVQA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 — Visual Question Answering for Remote Sensing Data: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https://arxiv.org/abs/2003.07333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sz="1800" b="1" i="0" dirty="0" err="1">
                <a:solidFill>
                  <a:schemeClr val="tx1"/>
                </a:solidFill>
                <a:effectLst/>
                <a:latin typeface="Calibri" pitchFamily="34" charset="0"/>
              </a:rPr>
              <a:t>RemoteCLIP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 — A Vision Language Foundation Model for Remote Sensing: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https://arxiv.org/abs/2306.11029</a:t>
            </a:r>
            <a:endParaRPr lang="en-IN" sz="1200" b="0" i="0" dirty="0">
              <a:solidFill>
                <a:srgbClr val="F4F0EB"/>
              </a:solidFill>
              <a:effectLst/>
              <a:latin typeface="Inter"/>
            </a:endParaRPr>
          </a:p>
          <a:p>
            <a:pPr>
              <a:defRPr sz="1000"/>
            </a:pPr>
            <a:r>
              <a:t>• BigEarthNet.txt — Multi-Modal RS Dataset (464K Sentinel-1/2 Pairs, 9.6M Annotations):</a:t>
            </a:r>
            <a:br/>
            <a:r>
              <a:t>  https://arxiv.org/abs/2603.29630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5F8562-49B5-BB19-1D0A-CC13DD4D1EE9}"/>
              </a:ext>
            </a:extLst>
          </p:cNvPr>
          <p:cNvSpPr txBox="1"/>
          <p:nvPr/>
        </p:nvSpPr>
        <p:spPr>
          <a:xfrm>
            <a:off x="-1" y="4832704"/>
            <a:ext cx="501880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l">
              <a:buFont typeface="Wingdings" panose="05000000000000000000" pitchFamily="2" charset="2"/>
              <a:buChar char="v"/>
            </a:pPr>
            <a:r>
              <a:rPr lang="en-IN" sz="20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Validation:</a:t>
            </a:r>
          </a:p>
          <a:p>
            <a:pPr lvl="0"/>
            <a:r>
              <a:rPr lang="en-IN" b="1" dirty="0"/>
              <a:t>•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ISRO Annual Report 2023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—Data Utilization</a:t>
            </a:r>
            <a:r>
              <a:rPr lang="en-IN" dirty="0"/>
              <a:t>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Gap: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https://www.isro.gov.in/AnnualReport_2023.html</a:t>
            </a:r>
          </a:p>
          <a:p>
            <a:pPr lvl="0"/>
            <a:r>
              <a:rPr lang="en-IN" b="1" dirty="0"/>
              <a:t>•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NDRF Disaster Response Report 2024: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https://ndma.gov.in/Resources/reports</a:t>
            </a:r>
            <a:endParaRPr lang="en-IN" sz="1200" b="0" i="0" dirty="0">
              <a:solidFill>
                <a:srgbClr val="F4F0EB"/>
              </a:solidFill>
              <a:effectLst/>
              <a:latin typeface="Inter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C80DAA6-2454-3EEE-D265-D6BEBF5E03C0}"/>
              </a:ext>
            </a:extLst>
          </p:cNvPr>
          <p:cNvCxnSpPr/>
          <p:nvPr/>
        </p:nvCxnSpPr>
        <p:spPr>
          <a:xfrm>
            <a:off x="0" y="4832704"/>
            <a:ext cx="48421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7E2C1A9-CC03-04D9-5008-5A889D23816D}"/>
              </a:ext>
            </a:extLst>
          </p:cNvPr>
          <p:cNvCxnSpPr/>
          <p:nvPr/>
        </p:nvCxnSpPr>
        <p:spPr>
          <a:xfrm>
            <a:off x="4842164" y="1095375"/>
            <a:ext cx="0" cy="5260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8377</TotalTime>
  <Words>940</Words>
  <Application>Microsoft Office PowerPoint</Application>
  <PresentationFormat>Widescreen</PresentationFormat>
  <Paragraphs>111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Inter</vt:lpstr>
      <vt:lpstr>Times New Roman</vt:lpstr>
      <vt:lpstr>TradeGothic</vt:lpstr>
      <vt:lpstr>Wingdings</vt:lpstr>
      <vt:lpstr>Office Theme</vt:lpstr>
      <vt:lpstr>SMART INDIA HACKATHON 2026</vt:lpstr>
      <vt:lpstr>     SatQuery AI – Agentic Vision-Language Assistant     for Satellite Image Analysis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yashsshinde4@gmail.com</cp:lastModifiedBy>
  <cp:revision>156</cp:revision>
  <dcterms:created xsi:type="dcterms:W3CDTF">2013-12-12T18:46:50Z</dcterms:created>
  <dcterms:modified xsi:type="dcterms:W3CDTF">2026-09-10T05:37:12Z</dcterms:modified>
  <cp:category/>
</cp:coreProperties>
</file>